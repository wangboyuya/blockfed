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41" r:id="rId2"/>
    <p:sldId id="64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东齐 夏" initials="东夏" lastIdx="1" clrIdx="0">
    <p:extLst>
      <p:ext uri="{19B8F6BF-5375-455C-9EA6-DF929625EA0E}">
        <p15:presenceInfo xmlns:p15="http://schemas.microsoft.com/office/powerpoint/2012/main" userId="b5fb11592c198d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73389-0E8A-46FD-A54A-FB95CDFBFB54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ACE1E-B84A-4B38-99BF-644458B51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612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D398E3-16CD-4F8A-A268-FE366D8E73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622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B68C2-1025-1F81-A066-ECBEDA32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7E8B4B-531A-7FDA-B03E-FDE8A99FC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760864-DAB4-BDF4-428D-0E4B52D07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9F4BA1-BB6B-D00F-4731-BEC57EA67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D398E3-16CD-4F8A-A268-FE366D8E73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042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E316B-E81B-D119-5D50-AE1CC4C92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CED428-B785-9F3A-A065-28E160C6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3ED20-0B98-518F-F63E-6969602A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DD24C-8B9E-3FE6-B952-ABCD4B73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7D6EC-9B3C-F806-6F32-11BC93C8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4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950E1-B8E2-6B67-D5CC-9962FF61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741AB-79F4-6A83-C935-54AFBF17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31768-9990-66B9-883F-CF5C4F41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0ADFD-394B-99F4-05B2-F49FDBCB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E7FFC4-87E0-8B0B-0A5F-03F341E0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803C8-507C-ABF7-3568-E709965F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A6BFC8-B994-8FA2-5F26-3D150AD8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912D3-532A-C262-7417-8ACE4ECC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535630-67DC-FE0D-84DA-84DB3869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FD947-4F6A-B888-858A-1FEF204A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15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DFB43-4F71-551E-2EDD-48D2AB31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649B1-DC5F-6AFC-B771-557B8921D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79E50B-4622-19FD-6CAE-E154A84A9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3D7D2-51DE-9319-4069-CEAA4337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594827-8F7C-6810-A527-40B9CCC2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13B70-D0BC-8716-416A-9BCD2C0D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04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69C83-61DB-D463-2277-D7E11E14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B1A4C5-F2B4-793F-02E4-AC828D9E9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FCB4B4-A527-D20F-7F17-8832DCF25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578C22-DF75-C9E6-C012-9E100D6D5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954360-FA33-67BC-38D3-682C95A3E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9457F4-3602-BFA2-2F90-91B3659D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9337E3-A55B-09D8-12C2-E1F04677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34EB13-015E-D1B3-2BEC-11D0F939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25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D6C35-FB91-F2F0-DDA4-DAD26DC6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7A00CC-CBAC-C891-349F-40F96225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79C5B3-E4EE-1CA3-B47A-69D43DBC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A1F28A-F751-BB84-22FC-DBD90108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24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A91EBE-F241-9BFF-01D7-58ACBB28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602662-B602-0E78-5890-FCA247E3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11366-C868-8DD1-CE94-0C7E6E61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5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B6FBF-9418-51C7-F292-3E781203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12104-8A62-7A4C-30C0-4E18A7F2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7BCAEA-12D6-E6CF-8605-E4FF25424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56283B-525C-6453-1900-4456A8C7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80AB3A-EB01-8DC6-6029-BBC51CA2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BE1708-3B2F-0A5D-A4A2-06D60039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19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A07AC-051E-4786-2B99-6580497D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783151-23B7-9F81-2A12-FEB844E0B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386B0E-2135-3FB4-F4E5-A4B777DBB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7D13F0-AD18-0E04-4981-7E262EED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79428F-C365-07FD-2BBE-42240A13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DDE1B-D9E5-BA48-E841-6477ABF4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9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95A9D-6E85-4762-38A7-4F34F90B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3E4A90-5D5E-6236-5750-E109F4A27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630BAE-E853-15DC-57F8-34C413EC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AAC30-0078-551D-1421-74F3ECA7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802B6-7136-BD8F-B504-5840BE93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9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955CFD-529A-FA26-9187-C68BD0723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18ED04-66CF-6232-A43D-833C976BF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C82D9D-117B-D6D6-5C5F-1034927B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28D37-EDA7-3737-3236-BD312354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913AF-F252-053C-9A08-3C45C28A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716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353060"/>
            <a:ext cx="724280" cy="594359"/>
            <a:chOff x="0" y="200660"/>
            <a:chExt cx="724280" cy="594359"/>
          </a:xfrm>
          <a:solidFill>
            <a:srgbClr val="C00000"/>
          </a:solidFill>
        </p:grpSpPr>
        <p:sp>
          <p:nvSpPr>
            <p:cNvPr id="8" name="矩形 7"/>
            <p:cNvSpPr/>
            <p:nvPr/>
          </p:nvSpPr>
          <p:spPr>
            <a:xfrm>
              <a:off x="0" y="200660"/>
              <a:ext cx="594360" cy="59435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31734" y="200660"/>
              <a:ext cx="92546" cy="59435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952500" y="353060"/>
            <a:ext cx="8528638" cy="594359"/>
          </a:xfr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13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058" y="410812"/>
            <a:ext cx="2355078" cy="44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5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B2B646-3AB9-A51A-E02B-0BCB713C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7D6747-3823-D259-0904-5E93CEA56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399DE-FB42-2E4F-1AE6-65C9975B9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30EF3-C7C8-4701-8FC5-316DF7B7401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F5940-A19A-A350-1E67-FD35774DA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78E39-A1A0-6ECE-6B8E-62979F93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7380F-7EF6-43C1-BADF-1FC803109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4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hyperlink" Target="https://hyperledger-fabric.readthedocs.io/en/latest/chaincode" TargetMode="External"/><Relationship Id="rId5" Type="http://schemas.openxmlformats.org/officeDocument/2006/relationships/hyperlink" Target="https://hyperledger-fabric.readthedocs.io/en/latest/" TargetMode="External"/><Relationship Id="rId4" Type="http://schemas.openxmlformats.org/officeDocument/2006/relationships/hyperlink" Target="https://hyperledger-fabric.readthedocs.io/en/release-2.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49425" y="381808"/>
            <a:ext cx="1023595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Group Exercise 2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2211BFC-3BCA-8BE3-70FE-FA22BCCE61E7}"/>
              </a:ext>
            </a:extLst>
          </p:cNvPr>
          <p:cNvCxnSpPr/>
          <p:nvPr/>
        </p:nvCxnSpPr>
        <p:spPr>
          <a:xfrm flipH="1">
            <a:off x="7210097" y="73572"/>
            <a:ext cx="25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0025B4-ED0C-8554-CEA1-9BD5EBCEA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096210"/>
              </p:ext>
            </p:extLst>
          </p:nvPr>
        </p:nvGraphicFramePr>
        <p:xfrm>
          <a:off x="121727" y="1231512"/>
          <a:ext cx="7803073" cy="5607610"/>
        </p:xfrm>
        <a:graphic>
          <a:graphicData uri="http://schemas.openxmlformats.org/drawingml/2006/table">
            <a:tbl>
              <a:tblPr firstRow="1" firstCol="1" bandRow="1"/>
              <a:tblGrid>
                <a:gridCol w="2990932">
                  <a:extLst>
                    <a:ext uri="{9D8B030D-6E8A-4147-A177-3AD203B41FA5}">
                      <a16:colId xmlns:a16="http://schemas.microsoft.com/office/drawing/2014/main" val="1725269653"/>
                    </a:ext>
                  </a:extLst>
                </a:gridCol>
                <a:gridCol w="4812141">
                  <a:extLst>
                    <a:ext uri="{9D8B030D-6E8A-4147-A177-3AD203B41FA5}">
                      <a16:colId xmlns:a16="http://schemas.microsoft.com/office/drawing/2014/main" val="82754650"/>
                    </a:ext>
                  </a:extLst>
                </a:gridCol>
              </a:tblGrid>
              <a:tr h="342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System properties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Hyperledger Fabric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397798"/>
                  </a:ext>
                </a:extLst>
              </a:tr>
              <a:tr h="13607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Decentralization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Network participant roles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Network topology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Ledger type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Governance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Organization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Peer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Orderer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Client / SDK</a:t>
                      </a:r>
                      <a:r>
                        <a:rPr lang="en-US" altLang="zh-CN" sz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[1]</a:t>
                      </a:r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Channel</a:t>
                      </a:r>
                      <a:r>
                        <a:rPr lang="zh-CN" alt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Chaincode</a:t>
                      </a:r>
                      <a:r>
                        <a:rPr lang="en-US" altLang="zh-C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Instantiation</a:t>
                      </a:r>
                      <a:r>
                        <a:rPr lang="zh-CN" alt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Ordering Service</a:t>
                      </a:r>
                      <a:r>
                        <a:rPr lang="zh-CN" alt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Multi-channel Architecture</a:t>
                      </a:r>
                      <a:r>
                        <a:rPr lang="en-US" altLang="zh-CN" sz="12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[2]</a:t>
                      </a:r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Distributed Ledger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World State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Transaction Log</a:t>
                      </a:r>
                      <a:r>
                        <a:rPr lang="en-US" altLang="zh-CN" sz="1200" baseline="30000" dirty="0"/>
                        <a:t>[3]</a:t>
                      </a:r>
                      <a:endParaRPr lang="en-US" altLang="zh-CN" sz="1200" dirty="0"/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Policy-Based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Access Control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Organizational Consensus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Configuration Blocks</a:t>
                      </a:r>
                      <a:r>
                        <a:rPr lang="en-US" altLang="zh-CN" sz="1200" baseline="30000" dirty="0"/>
                        <a:t>[4]</a:t>
                      </a:r>
                      <a:endParaRPr lang="en-US" altLang="zh-C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57230"/>
                  </a:ext>
                </a:extLst>
              </a:tr>
              <a:tr h="11061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Access control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Identity management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Authentication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Authorization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Using Certificates / Public Key Infrastructure 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Managed by the organization‘s MSP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Often leveraging Fabric CA or an external Certificate Authority</a:t>
                      </a:r>
                      <a:r>
                        <a:rPr lang="en-US" altLang="zh-CN" sz="1200" baseline="30000" dirty="0"/>
                        <a:t>[5]</a:t>
                      </a:r>
                      <a:endParaRPr lang="en-US" altLang="zh-CN" sz="1200" dirty="0"/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Digital Signature Mechanism</a:t>
                      </a:r>
                      <a:r>
                        <a:rPr lang="en-US" altLang="zh-CN" sz="1200" baseline="30000" dirty="0"/>
                        <a:t>[6]</a:t>
                      </a:r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Access Control Lists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Policies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Attribute-Based Access Control</a:t>
                      </a:r>
                      <a:r>
                        <a:rPr lang="en-US" altLang="zh-CN" sz="1200" baseline="30000" dirty="0"/>
                        <a:t>[7]</a:t>
                      </a:r>
                      <a:endParaRPr lang="en-001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655600"/>
                  </a:ext>
                </a:extLst>
              </a:tr>
              <a:tr h="11061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Security objectives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Integrity of data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Confidentiality of transactions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Privacy of transactions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Chain of Block Hashes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Digital Signatures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Consensus Mechanism</a:t>
                      </a:r>
                      <a:r>
                        <a:rPr lang="en-US" altLang="zh-CN" sz="1200" baseline="30000" dirty="0"/>
                        <a:t>[8]</a:t>
                      </a:r>
                      <a:endParaRPr lang="en-US" altLang="zh-CN" sz="1200" dirty="0"/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Channel Isolation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Private Data Collections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Encryption/ Obfuscation</a:t>
                      </a:r>
                      <a:r>
                        <a:rPr lang="en-US" altLang="zh-CN" sz="1200" baseline="30000" dirty="0"/>
                        <a:t>[9]</a:t>
                      </a:r>
                      <a:endParaRPr lang="en-US" altLang="zh-CN" sz="1200" dirty="0"/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Weak Anonymity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Reliant on Channels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Private Data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external Encryption / Privacy-enhancing Technologies.</a:t>
                      </a:r>
                      <a:r>
                        <a:rPr lang="en-US" altLang="zh-CN" sz="1200" baseline="30000" dirty="0"/>
                        <a:t>[10]</a:t>
                      </a:r>
                      <a:endParaRPr lang="en-001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176662"/>
                  </a:ext>
                </a:extLst>
              </a:tr>
              <a:tr h="596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Consensus algorithm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(describe the algorithm briefly)</a:t>
                      </a:r>
                      <a:endParaRPr lang="en-001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Multiple Pluggable Consensus Mechanisms</a:t>
                      </a:r>
                      <a:r>
                        <a:rPr lang="zh-CN" altLang="en-US" sz="1200" dirty="0"/>
                        <a:t>（</a:t>
                      </a:r>
                      <a:r>
                        <a:rPr lang="en-US" altLang="zh-CN" sz="1200" dirty="0"/>
                        <a:t>Raft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Kafka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PBFT</a:t>
                      </a:r>
                      <a:r>
                        <a:rPr lang="zh-CN" altLang="en-US" sz="1200" dirty="0"/>
                        <a:t>）</a:t>
                      </a:r>
                      <a:r>
                        <a:rPr lang="en-US" altLang="zh-CN" sz="1200" baseline="30000" dirty="0"/>
                        <a:t>[11]</a:t>
                      </a:r>
                      <a:endParaRPr lang="en-US" altLang="zh-CN" sz="1200" dirty="0"/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928117"/>
                  </a:ext>
                </a:extLst>
              </a:tr>
              <a:tr h="8515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Tokens/smart contracts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 tokens 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Smart contract language</a:t>
                      </a:r>
                      <a:endParaRPr lang="en-001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/>
                        <a:t>No native token by default / Does not typically include a built-in cryptocurrency</a:t>
                      </a:r>
                      <a:r>
                        <a:rPr lang="en-US" altLang="zh-CN" sz="1200" baseline="30000" dirty="0"/>
                        <a:t>[12]</a:t>
                      </a:r>
                      <a:endParaRPr lang="en-US" altLang="zh-CN" sz="1200" dirty="0"/>
                    </a:p>
                    <a:p>
                      <a:pPr marL="228600" indent="-2286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altLang="zh-CN" sz="1200" dirty="0" err="1"/>
                        <a:t>Chaincode</a:t>
                      </a:r>
                      <a:r>
                        <a:rPr lang="en-US" altLang="zh-CN" sz="1200" dirty="0"/>
                        <a:t>, supports languages such as Go, Java, and JavaScript / Node.js</a:t>
                      </a:r>
                      <a:r>
                        <a:rPr lang="en-US" altLang="zh-CN" sz="1200" baseline="30000" dirty="0"/>
                        <a:t>[13]</a:t>
                      </a:r>
                      <a:endParaRPr lang="en-001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4654" marR="746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10232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9CC127E-0F99-EE9C-7853-8009659F7392}"/>
              </a:ext>
            </a:extLst>
          </p:cNvPr>
          <p:cNvSpPr txBox="1">
            <a:spLocks/>
          </p:cNvSpPr>
          <p:nvPr/>
        </p:nvSpPr>
        <p:spPr>
          <a:xfrm>
            <a:off x="721018" y="627483"/>
            <a:ext cx="10515600" cy="844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Group 1: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Hyperledger Fabric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DA3B-5E54-640D-BDCF-65387F366161}"/>
              </a:ext>
            </a:extLst>
          </p:cNvPr>
          <p:cNvSpPr txBox="1">
            <a:spLocks/>
          </p:cNvSpPr>
          <p:nvPr/>
        </p:nvSpPr>
        <p:spPr>
          <a:xfrm>
            <a:off x="8108898" y="1231512"/>
            <a:ext cx="3961375" cy="524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Positive effects:</a:t>
            </a:r>
            <a:r>
              <a:rPr lang="en-US" sz="2000" baseline="30000" dirty="0">
                <a:solidFill>
                  <a:sysClr val="windowText" lastClr="000000"/>
                </a:solidFill>
                <a:latin typeface="Calibri"/>
              </a:rPr>
              <a:t>[14]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Stronger Privacy / Confidentiality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Higher Efficiency &amp; Scalability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Modularity &amp; Customizability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Clear Governance &amp; Control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Traceability (within scope)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Negative effects:</a:t>
            </a:r>
            <a:r>
              <a:rPr lang="en-US" sz="2000" baseline="30000" dirty="0">
                <a:solidFill>
                  <a:sysClr val="windowText" lastClr="000000"/>
                </a:solidFill>
                <a:latin typeface="Calibri"/>
              </a:rPr>
              <a:t>[14]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Limited Decentralization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Limited Transparency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Trust Assumptions Exist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 Privacy Requires Extra Design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 Operational Complexity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Concurrency Limitations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6C3B220-DC95-29ED-ADF6-B20EAF99BD6A}"/>
              </a:ext>
            </a:extLst>
          </p:cNvPr>
          <p:cNvSpPr/>
          <p:nvPr/>
        </p:nvSpPr>
        <p:spPr>
          <a:xfrm>
            <a:off x="8108898" y="1203085"/>
            <a:ext cx="3961375" cy="5133059"/>
          </a:xfrm>
          <a:prstGeom prst="rect">
            <a:avLst/>
          </a:prstGeom>
          <a:noFill/>
          <a:ln w="25400" cap="rnd" cmpd="sng" algn="ctr">
            <a:solidFill>
              <a:srgbClr val="295E7E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80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0103"/>
    </mc:Choice>
    <mc:Fallback xmlns="">
      <p:transition advClick="0" advTm="401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0BE2-B262-A559-7E8B-E450F453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9E4EE79-32F4-B827-AAC4-A7A11BF142E7}"/>
              </a:ext>
            </a:extLst>
          </p:cNvPr>
          <p:cNvSpPr txBox="1"/>
          <p:nvPr/>
        </p:nvSpPr>
        <p:spPr>
          <a:xfrm>
            <a:off x="749425" y="381808"/>
            <a:ext cx="4192965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Reference 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F6E8A1C-E7DB-F6D3-FD43-2293396BEFED}"/>
              </a:ext>
            </a:extLst>
          </p:cNvPr>
          <p:cNvCxnSpPr/>
          <p:nvPr/>
        </p:nvCxnSpPr>
        <p:spPr>
          <a:xfrm flipH="1">
            <a:off x="7210097" y="73572"/>
            <a:ext cx="25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16F483B-14EE-6568-9319-A139C1F4A6EA}"/>
              </a:ext>
            </a:extLst>
          </p:cNvPr>
          <p:cNvSpPr txBox="1">
            <a:spLocks/>
          </p:cNvSpPr>
          <p:nvPr/>
        </p:nvSpPr>
        <p:spPr>
          <a:xfrm>
            <a:off x="3778172" y="269968"/>
            <a:ext cx="3749928" cy="870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Group 1: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Hyperledger Fabric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EFAB2F-69F8-B4FD-AAE3-A10047A34D8F}"/>
              </a:ext>
            </a:extLst>
          </p:cNvPr>
          <p:cNvSpPr txBox="1"/>
          <p:nvPr/>
        </p:nvSpPr>
        <p:spPr>
          <a:xfrm>
            <a:off x="1" y="1251817"/>
            <a:ext cx="122529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[1] Hyperledger Fabric Documentation – </a:t>
            </a:r>
            <a:r>
              <a:rPr lang="en-US" altLang="zh-CN" sz="1600" i="1" dirty="0"/>
              <a:t>Network Components</a:t>
            </a:r>
            <a:r>
              <a:rPr lang="en-US" altLang="zh-CN" sz="1600" dirty="0"/>
              <a:t>. https://hyperledger-fabric.readthedocs.io/en/latest/network/network.html</a:t>
            </a:r>
          </a:p>
          <a:p>
            <a:r>
              <a:rPr lang="en-US" altLang="zh-CN" sz="1600" dirty="0"/>
              <a:t>[2] Hyperledger Fabric Documentation – </a:t>
            </a:r>
            <a:r>
              <a:rPr lang="en-US" altLang="zh-CN" sz="1600" i="1" dirty="0"/>
              <a:t>Channels Concept</a:t>
            </a:r>
            <a:r>
              <a:rPr lang="en-US" altLang="zh-CN" sz="1600" dirty="0"/>
              <a:t>. https://hyperledger-fabric.readthedocs.io/en/latest/network/channel.html</a:t>
            </a:r>
          </a:p>
          <a:p>
            <a:r>
              <a:rPr lang="en-US" altLang="zh-CN" sz="1600" dirty="0"/>
              <a:t>[3] Medium – </a:t>
            </a:r>
            <a:r>
              <a:rPr lang="en-US" altLang="zh-CN" sz="1600" i="1" dirty="0"/>
              <a:t>Understanding Hyperledger Fabric: A Comprehensive Overview</a:t>
            </a:r>
            <a:r>
              <a:rPr lang="en-US" altLang="zh-CN" sz="1600" dirty="0"/>
              <a:t>. https://medium.com/blockchain-hacks/understanding-hyperledger-fabric-a-comprehensive-overview-b84c783834c5</a:t>
            </a:r>
          </a:p>
          <a:p>
            <a:r>
              <a:rPr lang="en-US" altLang="zh-CN" sz="1600" dirty="0"/>
              <a:t>[4] Hyperledger Fabric Documentation – </a:t>
            </a:r>
            <a:r>
              <a:rPr lang="en-US" altLang="zh-CN" sz="1600" i="1" dirty="0"/>
              <a:t>Network Governance and Policies</a:t>
            </a:r>
            <a:r>
              <a:rPr lang="en-US" altLang="zh-CN" sz="1600" dirty="0"/>
              <a:t>. https://hyperledger-fabric. readthedocs.io/</a:t>
            </a:r>
            <a:r>
              <a:rPr lang="en-US" altLang="zh-CN" sz="1600" dirty="0" err="1"/>
              <a:t>en</a:t>
            </a:r>
            <a:r>
              <a:rPr lang="en-US" altLang="zh-CN" sz="1600" dirty="0"/>
              <a:t>/latest/policies/ policies.html</a:t>
            </a:r>
          </a:p>
          <a:p>
            <a:r>
              <a:rPr lang="en-US" altLang="zh-CN" sz="1600" dirty="0"/>
              <a:t>[5] Hyperledger Fabric Documentation – </a:t>
            </a:r>
            <a:r>
              <a:rPr lang="en-US" altLang="zh-CN" sz="1600" i="1" dirty="0"/>
              <a:t>Identity and MSP</a:t>
            </a:r>
            <a:r>
              <a:rPr lang="en-US" altLang="zh-CN" sz="1600" dirty="0"/>
              <a:t>. https://hyperledger-fabric.readthedocs.io/en/latest/identity/identity.html</a:t>
            </a:r>
          </a:p>
          <a:p>
            <a:r>
              <a:rPr lang="en-US" altLang="zh-CN" sz="1600" dirty="0"/>
              <a:t>[6] Hyperledger Fabric Documentation – </a:t>
            </a:r>
            <a:r>
              <a:rPr lang="en-US" altLang="zh-CN" sz="1600" i="1" dirty="0"/>
              <a:t>Security Model</a:t>
            </a:r>
            <a:r>
              <a:rPr lang="en-US" altLang="zh-CN" sz="1600" dirty="0"/>
              <a:t>. https://hyperledger-fabric.readthedocs.io/en/latest/security_model.html</a:t>
            </a:r>
          </a:p>
          <a:p>
            <a:r>
              <a:rPr lang="en-US" altLang="zh-CN" sz="1600" dirty="0"/>
              <a:t>[7] Hyperledger Fabric Documentation – </a:t>
            </a:r>
            <a:r>
              <a:rPr lang="en-US" altLang="zh-CN" sz="1600" i="1" dirty="0"/>
              <a:t>Access Control Lists (ACLs)</a:t>
            </a:r>
            <a:r>
              <a:rPr lang="en-US" altLang="zh-CN" sz="1600" dirty="0"/>
              <a:t>. </a:t>
            </a:r>
            <a:r>
              <a:rPr lang="en-US" altLang="zh-CN" sz="1600" dirty="0">
                <a:hlinkClick r:id="rId4"/>
              </a:rPr>
              <a:t>https://hyperledger-fabric.readthedocs.io/en/release-2.5/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access_control</a:t>
            </a:r>
            <a:r>
              <a:rPr lang="en-US" altLang="zh-CN" sz="1600" dirty="0"/>
              <a:t>. html</a:t>
            </a:r>
          </a:p>
          <a:p>
            <a:r>
              <a:rPr lang="en-US" altLang="zh-CN" sz="1600" dirty="0"/>
              <a:t>[8] Hyperledger Fabric Architecture Deep Dive – </a:t>
            </a:r>
            <a:r>
              <a:rPr lang="en-US" altLang="zh-CN" sz="1600" i="1" dirty="0"/>
              <a:t>Security and Integrity Mechanisms</a:t>
            </a:r>
            <a:r>
              <a:rPr lang="en-US" altLang="zh-CN" sz="1600" dirty="0"/>
              <a:t>. https://hyperledger-fabric.readthedocs.io/en/release-1.3/arch-deep-dive.html</a:t>
            </a:r>
          </a:p>
          <a:p>
            <a:r>
              <a:rPr lang="en-US" altLang="zh-CN" sz="1600" dirty="0"/>
              <a:t>[9] Hyperledger Fabric Documentation – </a:t>
            </a:r>
            <a:r>
              <a:rPr lang="en-US" altLang="zh-CN" sz="1600" i="1" dirty="0"/>
              <a:t>Private Data Collections</a:t>
            </a:r>
            <a:r>
              <a:rPr lang="en-US" altLang="zh-CN" sz="1600" dirty="0"/>
              <a:t>. </a:t>
            </a:r>
            <a:r>
              <a:rPr lang="en-US" altLang="zh-CN" sz="1600" dirty="0">
                <a:hlinkClick r:id="rId5"/>
              </a:rPr>
              <a:t>https://hyperledger-fabric.readthedocs.io/en/latest/</a:t>
            </a:r>
            <a:r>
              <a:rPr lang="en-US" altLang="zh-CN" sz="1600" dirty="0"/>
              <a:t>private_data_tutorial. html</a:t>
            </a:r>
          </a:p>
          <a:p>
            <a:r>
              <a:rPr lang="en-US" altLang="zh-CN" sz="1600" dirty="0"/>
              <a:t>[10] Hyperledger Foundation Blog – </a:t>
            </a:r>
            <a:r>
              <a:rPr lang="en-US" altLang="zh-CN" sz="1600" i="1" dirty="0"/>
              <a:t>Privacy Mechanisms in Fabric</a:t>
            </a:r>
            <a:r>
              <a:rPr lang="en-US" altLang="zh-CN" sz="1600" dirty="0"/>
              <a:t>. https://www.lfdecentralizedtrust.org/blog/privacy-in-hyperledger-fabric</a:t>
            </a:r>
          </a:p>
          <a:p>
            <a:r>
              <a:rPr lang="en-US" altLang="zh-CN" sz="1600" dirty="0"/>
              <a:t>[11] Hyperledger Fabric Documentation – </a:t>
            </a:r>
            <a:r>
              <a:rPr lang="en-US" altLang="zh-CN" sz="1600" i="1" dirty="0"/>
              <a:t>Ordering Service and Raft Consensus</a:t>
            </a:r>
            <a:r>
              <a:rPr lang="en-US" altLang="zh-CN" sz="1600" dirty="0"/>
              <a:t>. https://hyperledger-fabric.readthedocs.io/en/release-2.2/whatis.html</a:t>
            </a:r>
          </a:p>
          <a:p>
            <a:r>
              <a:rPr lang="en-US" altLang="zh-CN" sz="1600" dirty="0"/>
              <a:t>[12] Hyperledger Fabric Documentation – </a:t>
            </a:r>
            <a:r>
              <a:rPr lang="en-US" altLang="zh-CN" sz="1600" i="1" dirty="0"/>
              <a:t>Tokens and Assets</a:t>
            </a:r>
            <a:r>
              <a:rPr lang="en-US" altLang="zh-CN" sz="1600" dirty="0"/>
              <a:t>. https://hyperledger-fabric.readthedocs.io/en/latest/token.html</a:t>
            </a:r>
          </a:p>
          <a:p>
            <a:r>
              <a:rPr lang="en-US" altLang="zh-CN" sz="1600" dirty="0"/>
              <a:t>[13] Hyperledger Fabric Documentation – </a:t>
            </a:r>
            <a:r>
              <a:rPr lang="en-US" altLang="zh-CN" sz="1600" i="1" dirty="0"/>
              <a:t>Smart Contracts (</a:t>
            </a:r>
            <a:r>
              <a:rPr lang="en-US" altLang="zh-CN" sz="1600" i="1" dirty="0" err="1"/>
              <a:t>Chaincode</a:t>
            </a:r>
            <a:r>
              <a:rPr lang="en-US" altLang="zh-CN" sz="1600" i="1" dirty="0"/>
              <a:t>)</a:t>
            </a:r>
            <a:r>
              <a:rPr lang="en-US" altLang="zh-CN" sz="1600" dirty="0"/>
              <a:t>. </a:t>
            </a:r>
            <a:r>
              <a:rPr lang="en-US" altLang="zh-CN" sz="1600" dirty="0">
                <a:hlinkClick r:id="rId6"/>
              </a:rPr>
              <a:t>https://hyperledger-fabric.readthedocs.io/en/latest/chaincode</a:t>
            </a:r>
            <a:r>
              <a:rPr lang="en-US" altLang="zh-CN" sz="1600" dirty="0"/>
              <a:t>. html</a:t>
            </a:r>
          </a:p>
          <a:p>
            <a:r>
              <a:rPr lang="en-US" altLang="zh-CN" sz="1600" dirty="0"/>
              <a:t>[14] </a:t>
            </a:r>
            <a:r>
              <a:rPr lang="en-US" altLang="zh-CN" sz="1600" dirty="0" err="1"/>
              <a:t>ArXiv</a:t>
            </a:r>
            <a:r>
              <a:rPr lang="en-US" altLang="zh-CN" sz="1600" dirty="0"/>
              <a:t> – </a:t>
            </a:r>
            <a:r>
              <a:rPr lang="en-US" altLang="zh-CN" sz="1600" i="1" dirty="0"/>
              <a:t>Security Analysis of Hyperledger Fabric (2021)</a:t>
            </a:r>
            <a:r>
              <a:rPr lang="en-US" altLang="zh-CN" sz="1600" dirty="0"/>
              <a:t>. https://arxiv.org/pdf/2109.03574</a:t>
            </a:r>
          </a:p>
          <a:p>
            <a:endParaRPr lang="en-US" altLang="zh-CN" sz="1600" dirty="0"/>
          </a:p>
          <a:p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5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0103"/>
    </mc:Choice>
    <mc:Fallback xmlns="">
      <p:transition advClick="0" advTm="4010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|1.3|11.5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|1.3|11.5|2.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672</Words>
  <Application>Microsoft Office PowerPoint</Application>
  <PresentationFormat>宽屏</PresentationFormat>
  <Paragraphs>66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东齐 夏</dc:creator>
  <cp:lastModifiedBy>东齐 夏</cp:lastModifiedBy>
  <cp:revision>4</cp:revision>
  <dcterms:created xsi:type="dcterms:W3CDTF">2025-10-31T06:33:20Z</dcterms:created>
  <dcterms:modified xsi:type="dcterms:W3CDTF">2025-11-01T03:24:17Z</dcterms:modified>
</cp:coreProperties>
</file>